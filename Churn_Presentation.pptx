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Churn Rate по странам,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2A5F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2A5F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Германия</c:v>
                  </c:pt>
                  <c:pt idx="1">
                    <c:v>Испания</c:v>
                  </c:pt>
                  <c:pt idx="2">
                    <c:v>Франция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32.4</c:v>
                </c:pt>
                <c:pt idx="1">
                  <c:v>16.7</c:v>
                </c:pt>
                <c:pt idx="2">
                  <c:v>16.2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Churn Rate по возрасту, 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9A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0CAF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2A5F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45–59</c:v>
                  </c:pt>
                  <c:pt idx="1">
                    <c:v>60+</c:v>
                  </c:pt>
                  <c:pt idx="2">
                    <c:v>30–44</c:v>
                  </c:pt>
                  <c:pt idx="3">
                    <c:v>18–29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49.4</c:v>
                </c:pt>
                <c:pt idx="1">
                  <c:v>27.9</c:v>
                </c:pt>
                <c:pt idx="2">
                  <c:v>14.4</c:v>
                </c:pt>
                <c:pt idx="3">
                  <c:v>7.6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Churn Rate по кол-ву продуктов,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42A5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2A5F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00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 продукт</c:v>
                  </c:pt>
                  <c:pt idx="1">
                    <c:v>2 продукта</c:v>
                  </c:pt>
                  <c:pt idx="2">
                    <c:v>3 продукта</c:v>
                  </c:pt>
                  <c:pt idx="3">
                    <c:v>4 продукта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27.7</c:v>
                </c:pt>
                <c:pt idx="1">
                  <c:v>7.6</c:v>
                </c:pt>
                <c:pt idx="2">
                  <c:v>82.7</c:v>
                </c:pt>
                <c:pt idx="3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Churn Rate: активные vs неактивные,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4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Неактивный</c:v>
                  </c:pt>
                  <c:pt idx="1">
                    <c:v>Активный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26.9</c:v>
                </c:pt>
                <c:pt idx="1">
                  <c:v>14.3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Важность признаков — Gradient Boosting (лучшая модель)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E88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88E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88E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88E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88E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88E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E88E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E88E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E88E5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E88E5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HasCrCard</c:v>
                  </c:pt>
                  <c:pt idx="1">
                    <c:v>Gender</c:v>
                  </c:pt>
                  <c:pt idx="2">
                    <c:v>Geography</c:v>
                  </c:pt>
                  <c:pt idx="3">
                    <c:v>IsActive</c:v>
                  </c:pt>
                  <c:pt idx="4">
                    <c:v>Tenure</c:v>
                  </c:pt>
                  <c:pt idx="5">
                    <c:v>NumProducts</c:v>
                  </c:pt>
                  <c:pt idx="6">
                    <c:v>CreditScore</c:v>
                  </c:pt>
                  <c:pt idx="7">
                    <c:v>Salary</c:v>
                  </c:pt>
                  <c:pt idx="8">
                    <c:v>Balance</c:v>
                  </c:pt>
                  <c:pt idx="9">
                    <c:v>Age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0.019</c:v>
                </c:pt>
                <c:pt idx="1">
                  <c:v>0.02</c:v>
                </c:pt>
                <c:pt idx="2">
                  <c:v>0.039</c:v>
                </c:pt>
                <c:pt idx="3">
                  <c:v>0.037</c:v>
                </c:pt>
                <c:pt idx="4">
                  <c:v>0.079</c:v>
                </c:pt>
                <c:pt idx="5">
                  <c:v>0.136</c:v>
                </c:pt>
                <c:pt idx="6">
                  <c:v>0.134</c:v>
                </c:pt>
                <c:pt idx="7">
                  <c:v>0.14</c:v>
                </c:pt>
                <c:pt idx="8">
                  <c:v>0.143</c:v>
                </c:pt>
                <c:pt idx="9">
                  <c:v>0.253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2A5F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2A5F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DE</c:v>
                  </c:pt>
                  <c:pt idx="1">
                    <c:v>ES</c:v>
                  </c:pt>
                  <c:pt idx="2">
                    <c:v>FR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32.4</c:v>
                </c:pt>
                <c:pt idx="1">
                  <c:v>16.7</c:v>
                </c:pt>
                <c:pt idx="2">
                  <c:v>16.2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B4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B2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B4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53A5E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</c:v>
                </c:pt>
              </c:strCache>
            </c:strRef>
          </c:tx>
          <c:spPr>
            <a:solidFill>
              <a:srgbClr val="42A5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2A5F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2A5F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9A9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18–29</c:v>
                  </c:pt>
                  <c:pt idx="1">
                    <c:v>30–44</c:v>
                  </c:pt>
                  <c:pt idx="2">
                    <c:v>45–59</c:v>
                  </c:pt>
                  <c:pt idx="3">
                    <c:v>60+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7.6</c:v>
                </c:pt>
                <c:pt idx="1">
                  <c:v>14.4</c:v>
                </c:pt>
                <c:pt idx="2">
                  <c:v>49.4</c:v>
                </c:pt>
                <c:pt idx="3">
                  <c:v>27.9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B4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B2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B4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53A5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Приветствие и представление темы. «Третий проект — анализ оттока клиентов банка. В датасете 10 000 клиентов, 20% из них ушли. Задача — понять почему, разбить клиентов на сегменты и построить модель, которая предсказывает уход».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Опишите задачу: «Банк теряет клиентов и хочет знать почему. У нас есть данные о 10 000 клиентах — их возраст, баланс, количество продуктов и статус активности. Целевая переменная — Exited: 1, если клиент ушёл».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Скажите: «Данные оказались чистыми — ни пропусков, ни дублей. Я удалила три технические колонки без аналитической ценности и создала три новых признака: возрастную группу, группу по балансу и текстовую метку оттока — они понадобились для визуализации и Power BI».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Главные находки EDA: «Уровень оттока — 20.4%. Три главных сигнала: во-первых, клиенты из Германии уходят вдвое чаще, чем из Франции. Во-вторых, женщины уходят заметно чаще мужчин. В-третьих — и это самое важное — клиенты в возрасте 45–59 лет уходят почти в каждом втором случае».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второй по важности слайд EDA. «Обнаружена нелинейная зависимость: клиенты с 2 продуктами уходят реже всего — 7.6%. А вот с 3 и 4 продуктами — это тревожный сигнал: уходят почти все. Это говорит о том, что перекредитованный клиент или клиент с избыточным продуктовым пакетом, с которым он не справляется — самый рискованный. Плюс неактивные клиенты уходят вдвое чаще».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Объясните кластеризацию просто: «Я использовала алгоритм KMeans — он сам разбивает клиентов на группы по похожести. Метод локтя показал оптимум при 4 кластерах. Самый опасный — Кластер 3: пожилые клиенты с высоким балансом и 3+ продуктами — они уходят чаще всего. Кластер 0 — молодые активные клиенты — наиболее лояльные».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«Я проверила три гипотезы с помощью t-теста — это статистический метод, который определяет, случайна ли разница между двумя группами. Если p-value меньше 0.05, разница не случайна. Все три гипотезы подтвердились с очень высокой значимостью: клиенты из Германии, неактивные и старше 45 лет уходят статистически значимо чаще».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«Я обучила три модели. Logistic Regression — простая базовая линия. Random Forest — ансамбль деревьев. Gradient Boosting — победитель с AUC 0.867. AUC-ROC — это мера качества: 1.0 — идеально, 0.5 — случайное угадывание. Наша лучшая модель хорошо отличает лояльных клиентов от тех, кто уйдёт. Главный предиктор — возраст, за ним следуют баланс и зарплата».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«Помимо Python я написала 10 SQL-запросов к той же таблице. Они охватывают те же вопросы, что и Python-анализ, но формулируются на языке базы данных. Запросы используют как базовые агрегации, так и продвинутые техники — оконные функции RANK и NTILE, CTE и вложенные подзапросы».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«Все результаты анализа я оформила в интерактивный дашборд в Power BI. Два листа: первый — общий обзор с KPI и основными графиками, второй — глубокий анализ по балансу и активности. В дашборде можно фильтровать данные по стране, полу, возрасту и активности — и все визуалы обновляются одновременно».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Резюмируйте все 4 этапа одним слайдом. «Если коротко: из EDA — главные факторы риска это страна Германия, возраст 45+, и пол. Из анализа продуктов — тревожный знак это 3 и более продуктов. Все три гипотезы подтверждены статистически. Лучшая модель — Gradient Boosting с AUC 0.867».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Завершите уверенно: «На основе анализа — пять конкретных действий. Особого внимания требует Германия и клиенты старше 45 лет. Плюс, модель Gradient Boosting готова к использованию в продакшне — она может ежемесячно выдавать список клиентов с высоким риском оттока для приоритетной работы менеджеров». Сделайте паузу и скажите «Готова ответить на вопросы».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1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3" Type="http://schemas.openxmlformats.org/officeDocument/2006/relationships/chart" Target="/ppt/charts/chart7.xml"/><Relationship Id="rId1" Type="http://schemas.openxmlformats.org/officeDocument/2006/relationships/image" Target="../media/image-10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6400800" cy="6400800"/>
          </a:xfrm>
          <a:prstGeom prst="ellipse">
            <a:avLst/>
          </a:prstGeom>
          <a:solidFill>
            <a:srgbClr val="7B2D8B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572000"/>
            <a:ext cx="5029200" cy="5029200"/>
          </a:xfrm>
          <a:prstGeom prst="ellipse">
            <a:avLst/>
          </a:prstGeom>
          <a:solidFill>
            <a:srgbClr val="0D8A8A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7B2D8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834390"/>
            <a:ext cx="388620" cy="388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72768" y="74980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ФИНАНСОВАЯ АНАЛИТИКА · ПРОЕКТ 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78308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Customer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640080" y="27889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A78B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Analysis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640080" y="3931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оттока клиентов банка: причины, сегментация, прогнозирование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5074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10 000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40080" y="5623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клиентов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91840" y="5074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20.4%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3291840" y="5623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отток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0" y="5074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5943600" y="5623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гипотезы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595360" y="5074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8595360" y="5623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ML-модели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674370"/>
            <a:ext cx="3429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53035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 проекте и бизнес-проблема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63040" y="107899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этот анализ нужен банку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94360" y="1600200"/>
            <a:ext cx="5577840" cy="4617720"/>
          </a:xfrm>
          <a:prstGeom prst="roundRect">
            <a:avLst>
              <a:gd name="adj" fmla="val 1584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1874520"/>
            <a:ext cx="594360" cy="594360"/>
          </a:xfrm>
          <a:prstGeom prst="ellipse">
            <a:avLst/>
          </a:prstGeom>
          <a:solidFill>
            <a:srgbClr val="7B2D8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2023110"/>
            <a:ext cx="297180" cy="2971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1920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Бизнес-проблема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14400" y="25603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ушедший клиент — прямая потеря дохода.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 не знает, кто уйдёт следующим, и не может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вовремя предложить удерживающий оффер.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91440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проекта: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914400" y="4270248"/>
            <a:ext cx="164592" cy="164592"/>
          </a:xfrm>
          <a:prstGeom prst="ellipse">
            <a:avLst/>
          </a:prstGeom>
          <a:solidFill>
            <a:srgbClr val="0D8A8A"/>
          </a:solidFill>
          <a:ln/>
        </p:spPr>
      </p:sp>
      <p:sp>
        <p:nvSpPr>
          <p:cNvPr id="13" name="Text 9"/>
          <p:cNvSpPr/>
          <p:nvPr/>
        </p:nvSpPr>
        <p:spPr>
          <a:xfrm>
            <a:off x="1188720" y="42062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причины и паттерны оттока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914400" y="4663440"/>
            <a:ext cx="164592" cy="164592"/>
          </a:xfrm>
          <a:prstGeom prst="ellipse">
            <a:avLst/>
          </a:prstGeom>
          <a:solidFill>
            <a:srgbClr val="0D8A8A"/>
          </a:solidFill>
          <a:ln/>
        </p:spPr>
      </p:sp>
      <p:sp>
        <p:nvSpPr>
          <p:cNvPr id="15" name="Text 11"/>
          <p:cNvSpPr/>
          <p:nvPr/>
        </p:nvSpPr>
        <p:spPr>
          <a:xfrm>
            <a:off x="1188720" y="459943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Сегментировать клиентов по поведению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914400" y="5056632"/>
            <a:ext cx="164592" cy="164592"/>
          </a:xfrm>
          <a:prstGeom prst="ellipse">
            <a:avLst/>
          </a:prstGeom>
          <a:solidFill>
            <a:srgbClr val="0D8A8A"/>
          </a:solidFill>
          <a:ln/>
        </p:spPr>
      </p:sp>
      <p:sp>
        <p:nvSpPr>
          <p:cNvPr id="17" name="Text 13"/>
          <p:cNvSpPr/>
          <p:nvPr/>
        </p:nvSpPr>
        <p:spPr>
          <a:xfrm>
            <a:off x="1188720" y="499262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ключевые гипотезы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914400" y="5449824"/>
            <a:ext cx="164592" cy="164592"/>
          </a:xfrm>
          <a:prstGeom prst="ellipse">
            <a:avLst/>
          </a:prstGeom>
          <a:solidFill>
            <a:srgbClr val="0D8A8A"/>
          </a:solidFill>
          <a:ln/>
        </p:spPr>
      </p:sp>
      <p:sp>
        <p:nvSpPr>
          <p:cNvPr id="19" name="Text 15"/>
          <p:cNvSpPr/>
          <p:nvPr/>
        </p:nvSpPr>
        <p:spPr>
          <a:xfrm>
            <a:off x="1188720" y="538581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Построить модель прогнозирования оттока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446520" y="160020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EDF2F7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766560" y="18745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01168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452360" y="1920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Датасет: Churn_Modelling.csv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766560" y="25146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766560" y="27889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клиентов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766560" y="31363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766560" y="34107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признаков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766560" y="375818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Франция, Германия, Испания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766560" y="40325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страны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446520" y="3840480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EDF2F7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766560" y="4069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2290" y="4194810"/>
            <a:ext cx="251460" cy="25146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06640" y="4114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признаки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6766560" y="46177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CreditScore · Age · Tenure · Balance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6766560" y="496519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NumOfProducts · IsActiveMember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6766560" y="531266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Geography · Gender · EstimatedSalary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6766560" y="566013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Exited — целевая переменная (0/1)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674370"/>
            <a:ext cx="3429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53035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Подготовка данных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63040" y="107899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было сделано перед анализом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94360" y="1600200"/>
            <a:ext cx="5212080" cy="4617720"/>
          </a:xfrm>
          <a:prstGeom prst="roundRect">
            <a:avLst>
              <a:gd name="adj" fmla="val 1584"/>
            </a:avLst>
          </a:prstGeom>
          <a:solidFill>
            <a:srgbClr val="EDF2F7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исходных данных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25880" y="2377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Пропуски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25880" y="26334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Отсутствуют — 0 пустых значений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14400" y="312724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25880" y="31272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Дубликаты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325880" y="3383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найдены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14400" y="387705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325880" y="38770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Удалены колонки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325880" y="41330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RowNumber, CustomerId, Surname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914400" y="462686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25880" y="46268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Кодирование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325880" y="488289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и Gender → числовой формат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035040" y="1600200"/>
            <a:ext cx="5532120" cy="2194560"/>
          </a:xfrm>
          <a:prstGeom prst="roundRect">
            <a:avLst>
              <a:gd name="adj" fmla="val 333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40080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Созданные колонки (DAX/Python)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400800" y="2377440"/>
            <a:ext cx="4846320" cy="658368"/>
          </a:xfrm>
          <a:prstGeom prst="roundRect">
            <a:avLst>
              <a:gd name="adj" fmla="val 8333"/>
            </a:avLst>
          </a:prstGeom>
          <a:solidFill>
            <a:srgbClr val="253A5E"/>
          </a:solidFill>
          <a:ln/>
        </p:spPr>
      </p:sp>
      <p:sp>
        <p:nvSpPr>
          <p:cNvPr id="23" name="Text 20"/>
          <p:cNvSpPr/>
          <p:nvPr/>
        </p:nvSpPr>
        <p:spPr>
          <a:xfrm>
            <a:off x="653796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537960" y="26883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18–29 / 30–44 / 45–59 / 60+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00800" y="3154680"/>
            <a:ext cx="4846320" cy="658368"/>
          </a:xfrm>
          <a:prstGeom prst="roundRect">
            <a:avLst>
              <a:gd name="adj" fmla="val 8333"/>
            </a:avLst>
          </a:prstGeom>
          <a:solidFill>
            <a:srgbClr val="253A5E"/>
          </a:solidFill>
          <a:ln/>
        </p:spPr>
      </p:sp>
      <p:sp>
        <p:nvSpPr>
          <p:cNvPr id="26" name="Text 23"/>
          <p:cNvSpPr/>
          <p:nvPr/>
        </p:nvSpPr>
        <p:spPr>
          <a:xfrm>
            <a:off x="653796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Group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537960" y="34655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Нулевой / До 50k / 50k–100k / 100k–150k / 150k+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400800" y="3931920"/>
            <a:ext cx="4846320" cy="658368"/>
          </a:xfrm>
          <a:prstGeom prst="roundRect">
            <a:avLst>
              <a:gd name="adj" fmla="val 8333"/>
            </a:avLst>
          </a:prstGeom>
          <a:solidFill>
            <a:srgbClr val="253A5E"/>
          </a:solidFill>
          <a:ln/>
        </p:spPr>
      </p:sp>
      <p:sp>
        <p:nvSpPr>
          <p:cNvPr id="29" name="Text 26"/>
          <p:cNvSpPr/>
          <p:nvPr/>
        </p:nvSpPr>
        <p:spPr>
          <a:xfrm>
            <a:off x="653796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Status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537960" y="4242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Ушёл / Остался (текстовая метка)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035040" y="397764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EDF2F7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00800" y="4206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Итоговый датасет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400800" y="46634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B2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10 000</a:t>
            </a:r>
            <a:endParaRPr lang="en-US" sz="2400" dirty="0"/>
          </a:p>
        </p:txBody>
      </p:sp>
      <p:sp>
        <p:nvSpPr>
          <p:cNvPr id="34" name="Text 31"/>
          <p:cNvSpPr/>
          <p:nvPr/>
        </p:nvSpPr>
        <p:spPr>
          <a:xfrm>
            <a:off x="7635240" y="471830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 без изменений (нет потерь)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6400800" y="51206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B2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400" dirty="0"/>
          </a:p>
        </p:txBody>
      </p:sp>
      <p:sp>
        <p:nvSpPr>
          <p:cNvPr id="36" name="Text 33"/>
          <p:cNvSpPr/>
          <p:nvPr/>
        </p:nvSpPr>
        <p:spPr>
          <a:xfrm>
            <a:off x="7635240" y="517550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признаков после удаления технических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6400800" y="5577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B2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38" name="Text 35"/>
          <p:cNvSpPr/>
          <p:nvPr/>
        </p:nvSpPr>
        <p:spPr>
          <a:xfrm>
            <a:off x="7635240" y="563270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новых вычисляемых столбца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674370"/>
            <a:ext cx="3429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53035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Разведочный анализ: кто уходит?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63040" y="107899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паттерны оттока по основным характеристикам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94360" y="16002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828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20.4%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77240" y="2487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Churn Rate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28163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2 037 из 10 000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83280" y="16002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566160" y="1828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B2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32.4%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3566160" y="2487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отток в Германии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566160" y="28163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вдвое выше Франции (16%)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72200" y="16002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55080" y="1828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65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25.1%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6355080" y="2487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уходят женщины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55080" y="28163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16.5% у мужчин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961120" y="16002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144000" y="1828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741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49.4%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9144000" y="2487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 45–59 лет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144000" y="28163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второй уходит</a:t>
            </a:r>
            <a:endParaRPr lang="en-US" sz="10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57200" y="3520440"/>
          <a:ext cx="54864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3" name="Chart 1" descr=""/>
          <p:cNvGraphicFramePr/>
          <p:nvPr/>
        </p:nvGraphicFramePr>
        <p:xfrm>
          <a:off x="6309360" y="3520440"/>
          <a:ext cx="53949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674370"/>
            <a:ext cx="3429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53035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Продукты и активность клиентов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63040" y="107899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Самые критичные предикторы оттока из EDA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600200"/>
          <a:ext cx="56692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400800" y="160020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Shape 3"/>
          <p:cNvSpPr/>
          <p:nvPr/>
        </p:nvSpPr>
        <p:spPr>
          <a:xfrm>
            <a:off x="457200" y="507492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EDF2F7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9" name="Text 4"/>
          <p:cNvSpPr/>
          <p:nvPr/>
        </p:nvSpPr>
        <p:spPr>
          <a:xfrm>
            <a:off x="64008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640080" y="56692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продукта = катастрофа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640080" y="603504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Клиенты с 3 продуктами уходят в 83% случаев, с 4 — в 100%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297680" y="507492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EDF2F7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448056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4480560" y="56692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продукта — лучший сценарий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480560" y="603504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низкий Churn Rate — всего 7.6%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138160" y="507492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EDF2F7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832104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8321040" y="56692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Неактивные уходят вдвое чаще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321040" y="603504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26.9% vs 14.3% у активных клиентов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674370"/>
            <a:ext cx="3429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53035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Сегментация клиентов (KMeans)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63040" y="107899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Разбивка 10 000 клиентов на 4 группы по финансовому профилю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94360" y="16002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EDF2F7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Метод: KMeans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 кластеризации: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514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 · Balance · CreditScore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2834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NumOfProducts · IsActiveMember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3154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EstimatedSalary · Tenure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3337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Оптимальное K=4 выбрано методом локтя (Elbow Method)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97680" y="1600200"/>
            <a:ext cx="1874520" cy="5029200"/>
          </a:xfrm>
          <a:prstGeom prst="roundRect">
            <a:avLst>
              <a:gd name="adj" fmla="val 3902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34840" y="1737360"/>
            <a:ext cx="1600200" cy="438912"/>
          </a:xfrm>
          <a:prstGeom prst="roundRect">
            <a:avLst>
              <a:gd name="adj" fmla="val 12500"/>
            </a:avLst>
          </a:prstGeom>
          <a:solidFill>
            <a:srgbClr val="1E88E5"/>
          </a:solidFill>
          <a:ln/>
        </p:spPr>
      </p:sp>
      <p:sp>
        <p:nvSpPr>
          <p:cNvPr id="15" name="Text 12"/>
          <p:cNvSpPr/>
          <p:nvPr/>
        </p:nvSpPr>
        <p:spPr>
          <a:xfrm>
            <a:off x="4434840" y="173736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 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434840" y="2286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Молодые &amp; активные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434840" y="2926080"/>
            <a:ext cx="1600200" cy="566928"/>
          </a:xfrm>
          <a:prstGeom prst="roundRect">
            <a:avLst>
              <a:gd name="adj" fmla="val 8065"/>
            </a:avLst>
          </a:prstGeom>
          <a:solidFill>
            <a:srgbClr val="253A5E"/>
          </a:solidFill>
          <a:ln/>
        </p:spPr>
      </p:sp>
      <p:sp>
        <p:nvSpPr>
          <p:cNvPr id="18" name="Text 15"/>
          <p:cNvSpPr/>
          <p:nvPr/>
        </p:nvSpPr>
        <p:spPr>
          <a:xfrm>
            <a:off x="4434840" y="29260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возраст: ~34 года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434840" y="3611880"/>
            <a:ext cx="1600200" cy="566928"/>
          </a:xfrm>
          <a:prstGeom prst="roundRect">
            <a:avLst>
              <a:gd name="adj" fmla="val 8065"/>
            </a:avLst>
          </a:prstGeom>
          <a:solidFill>
            <a:srgbClr val="253A5E"/>
          </a:solidFill>
          <a:ln/>
        </p:spPr>
      </p:sp>
      <p:sp>
        <p:nvSpPr>
          <p:cNvPr id="20" name="Text 17"/>
          <p:cNvSpPr/>
          <p:nvPr/>
        </p:nvSpPr>
        <p:spPr>
          <a:xfrm>
            <a:off x="4434840" y="36118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Низкий баланс: ~37k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434840" y="4297680"/>
            <a:ext cx="1600200" cy="566928"/>
          </a:xfrm>
          <a:prstGeom prst="roundRect">
            <a:avLst>
              <a:gd name="adj" fmla="val 8065"/>
            </a:avLst>
          </a:prstGeom>
          <a:solidFill>
            <a:srgbClr val="253A5E"/>
          </a:solidFill>
          <a:ln/>
        </p:spPr>
      </p:sp>
      <p:sp>
        <p:nvSpPr>
          <p:cNvPr id="22" name="Text 19"/>
          <p:cNvSpPr/>
          <p:nvPr/>
        </p:nvSpPr>
        <p:spPr>
          <a:xfrm>
            <a:off x="4434840" y="42976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продукта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434840" y="4983480"/>
            <a:ext cx="1600200" cy="566928"/>
          </a:xfrm>
          <a:prstGeom prst="roundRect">
            <a:avLst>
              <a:gd name="adj" fmla="val 8065"/>
            </a:avLst>
          </a:prstGeom>
          <a:solidFill>
            <a:srgbClr val="253A5E"/>
          </a:solidFill>
          <a:ln/>
        </p:spPr>
      </p:sp>
      <p:sp>
        <p:nvSpPr>
          <p:cNvPr id="24" name="Text 21"/>
          <p:cNvSpPr/>
          <p:nvPr/>
        </p:nvSpPr>
        <p:spPr>
          <a:xfrm>
            <a:off x="4434840" y="49834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Отток: низкий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309360" y="1600200"/>
            <a:ext cx="1874520" cy="5029200"/>
          </a:xfrm>
          <a:prstGeom prst="roundRect">
            <a:avLst>
              <a:gd name="adj" fmla="val 3902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446520" y="1737360"/>
            <a:ext cx="1600200" cy="438912"/>
          </a:xfrm>
          <a:prstGeom prst="roundRect">
            <a:avLst>
              <a:gd name="adj" fmla="val 12500"/>
            </a:avLst>
          </a:prstGeom>
          <a:solidFill>
            <a:srgbClr val="7B2D8B"/>
          </a:solidFill>
          <a:ln/>
        </p:spPr>
      </p:sp>
      <p:sp>
        <p:nvSpPr>
          <p:cNvPr id="27" name="Text 24"/>
          <p:cNvSpPr/>
          <p:nvPr/>
        </p:nvSpPr>
        <p:spPr>
          <a:xfrm>
            <a:off x="6446520" y="173736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 1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446520" y="2286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Зрелые с балансом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446520" y="2926080"/>
            <a:ext cx="1600200" cy="566928"/>
          </a:xfrm>
          <a:prstGeom prst="roundRect">
            <a:avLst>
              <a:gd name="adj" fmla="val 8065"/>
            </a:avLst>
          </a:prstGeom>
          <a:solidFill>
            <a:srgbClr val="253A5E"/>
          </a:solidFill>
          <a:ln/>
        </p:spPr>
      </p:sp>
      <p:sp>
        <p:nvSpPr>
          <p:cNvPr id="30" name="Text 27"/>
          <p:cNvSpPr/>
          <p:nvPr/>
        </p:nvSpPr>
        <p:spPr>
          <a:xfrm>
            <a:off x="6446520" y="29260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возраст: ~48 лет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446520" y="3611880"/>
            <a:ext cx="1600200" cy="566928"/>
          </a:xfrm>
          <a:prstGeom prst="roundRect">
            <a:avLst>
              <a:gd name="adj" fmla="val 8065"/>
            </a:avLst>
          </a:prstGeom>
          <a:solidFill>
            <a:srgbClr val="253A5E"/>
          </a:solidFill>
          <a:ln/>
        </p:spPr>
      </p:sp>
      <p:sp>
        <p:nvSpPr>
          <p:cNvPr id="32" name="Text 29"/>
          <p:cNvSpPr/>
          <p:nvPr/>
        </p:nvSpPr>
        <p:spPr>
          <a:xfrm>
            <a:off x="6446520" y="36118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 баланс: ~115k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446520" y="4297680"/>
            <a:ext cx="1600200" cy="566928"/>
          </a:xfrm>
          <a:prstGeom prst="roundRect">
            <a:avLst>
              <a:gd name="adj" fmla="val 8065"/>
            </a:avLst>
          </a:prstGeom>
          <a:solidFill>
            <a:srgbClr val="253A5E"/>
          </a:solidFill>
          <a:ln/>
        </p:spPr>
      </p:sp>
      <p:sp>
        <p:nvSpPr>
          <p:cNvPr id="34" name="Text 31"/>
          <p:cNvSpPr/>
          <p:nvPr/>
        </p:nvSpPr>
        <p:spPr>
          <a:xfrm>
            <a:off x="6446520" y="42976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продукта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446520" y="4983480"/>
            <a:ext cx="1600200" cy="566928"/>
          </a:xfrm>
          <a:prstGeom prst="roundRect">
            <a:avLst>
              <a:gd name="adj" fmla="val 8065"/>
            </a:avLst>
          </a:prstGeom>
          <a:solidFill>
            <a:srgbClr val="253A5E"/>
          </a:solidFill>
          <a:ln/>
        </p:spPr>
      </p:sp>
      <p:sp>
        <p:nvSpPr>
          <p:cNvPr id="36" name="Text 33"/>
          <p:cNvSpPr/>
          <p:nvPr/>
        </p:nvSpPr>
        <p:spPr>
          <a:xfrm>
            <a:off x="6446520" y="49834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Отток: высокий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8321040" y="1600200"/>
            <a:ext cx="1874520" cy="5029200"/>
          </a:xfrm>
          <a:prstGeom prst="roundRect">
            <a:avLst>
              <a:gd name="adj" fmla="val 3902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8458200" y="1737360"/>
            <a:ext cx="1600200" cy="438912"/>
          </a:xfrm>
          <a:prstGeom prst="roundRect">
            <a:avLst>
              <a:gd name="adj" fmla="val 12500"/>
            </a:avLst>
          </a:prstGeom>
          <a:solidFill>
            <a:srgbClr val="0D8A8A"/>
          </a:solidFill>
          <a:ln/>
        </p:spPr>
      </p:sp>
      <p:sp>
        <p:nvSpPr>
          <p:cNvPr id="39" name="Text 36"/>
          <p:cNvSpPr/>
          <p:nvPr/>
        </p:nvSpPr>
        <p:spPr>
          <a:xfrm>
            <a:off x="8458200" y="173736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 2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8458200" y="2286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Нулевой баланс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8458200" y="2926080"/>
            <a:ext cx="1600200" cy="566928"/>
          </a:xfrm>
          <a:prstGeom prst="roundRect">
            <a:avLst>
              <a:gd name="adj" fmla="val 8065"/>
            </a:avLst>
          </a:prstGeom>
          <a:solidFill>
            <a:srgbClr val="253A5E"/>
          </a:solidFill>
          <a:ln/>
        </p:spPr>
      </p:sp>
      <p:sp>
        <p:nvSpPr>
          <p:cNvPr id="42" name="Text 39"/>
          <p:cNvSpPr/>
          <p:nvPr/>
        </p:nvSpPr>
        <p:spPr>
          <a:xfrm>
            <a:off x="8458200" y="29260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возраст: ~40 лет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8458200" y="3611880"/>
            <a:ext cx="1600200" cy="566928"/>
          </a:xfrm>
          <a:prstGeom prst="roundRect">
            <a:avLst>
              <a:gd name="adj" fmla="val 8065"/>
            </a:avLst>
          </a:prstGeom>
          <a:solidFill>
            <a:srgbClr val="253A5E"/>
          </a:solidFill>
          <a:ln/>
        </p:spPr>
      </p:sp>
      <p:sp>
        <p:nvSpPr>
          <p:cNvPr id="44" name="Text 41"/>
          <p:cNvSpPr/>
          <p:nvPr/>
        </p:nvSpPr>
        <p:spPr>
          <a:xfrm>
            <a:off x="8458200" y="36118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Баланс: ~0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8458200" y="4297680"/>
            <a:ext cx="1600200" cy="566928"/>
          </a:xfrm>
          <a:prstGeom prst="roundRect">
            <a:avLst>
              <a:gd name="adj" fmla="val 8065"/>
            </a:avLst>
          </a:prstGeom>
          <a:solidFill>
            <a:srgbClr val="253A5E"/>
          </a:solidFill>
          <a:ln/>
        </p:spPr>
      </p:sp>
      <p:sp>
        <p:nvSpPr>
          <p:cNvPr id="46" name="Text 43"/>
          <p:cNvSpPr/>
          <p:nvPr/>
        </p:nvSpPr>
        <p:spPr>
          <a:xfrm>
            <a:off x="8458200" y="42976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продукт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8458200" y="4983480"/>
            <a:ext cx="1600200" cy="566928"/>
          </a:xfrm>
          <a:prstGeom prst="roundRect">
            <a:avLst>
              <a:gd name="adj" fmla="val 8065"/>
            </a:avLst>
          </a:prstGeom>
          <a:solidFill>
            <a:srgbClr val="253A5E"/>
          </a:solidFill>
          <a:ln/>
        </p:spPr>
      </p:sp>
      <p:sp>
        <p:nvSpPr>
          <p:cNvPr id="48" name="Text 45"/>
          <p:cNvSpPr/>
          <p:nvPr/>
        </p:nvSpPr>
        <p:spPr>
          <a:xfrm>
            <a:off x="8458200" y="49834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Отток: средний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10332720" y="1600200"/>
            <a:ext cx="1874520" cy="5029200"/>
          </a:xfrm>
          <a:prstGeom prst="roundRect">
            <a:avLst>
              <a:gd name="adj" fmla="val 3902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10469880" y="1737360"/>
            <a:ext cx="1600200" cy="438912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</p:sp>
      <p:sp>
        <p:nvSpPr>
          <p:cNvPr id="51" name="Text 48"/>
          <p:cNvSpPr/>
          <p:nvPr/>
        </p:nvSpPr>
        <p:spPr>
          <a:xfrm>
            <a:off x="10469880" y="173736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 3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10469880" y="2286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Пожилые, неактивные</a:t>
            </a:r>
            <a:endParaRPr lang="en-US" sz="1250" dirty="0"/>
          </a:p>
        </p:txBody>
      </p:sp>
      <p:sp>
        <p:nvSpPr>
          <p:cNvPr id="53" name="Shape 50"/>
          <p:cNvSpPr/>
          <p:nvPr/>
        </p:nvSpPr>
        <p:spPr>
          <a:xfrm>
            <a:off x="10469880" y="2926080"/>
            <a:ext cx="1600200" cy="566928"/>
          </a:xfrm>
          <a:prstGeom prst="roundRect">
            <a:avLst>
              <a:gd name="adj" fmla="val 8065"/>
            </a:avLst>
          </a:prstGeom>
          <a:solidFill>
            <a:srgbClr val="253A5E"/>
          </a:solidFill>
          <a:ln/>
        </p:spPr>
      </p:sp>
      <p:sp>
        <p:nvSpPr>
          <p:cNvPr id="54" name="Text 51"/>
          <p:cNvSpPr/>
          <p:nvPr/>
        </p:nvSpPr>
        <p:spPr>
          <a:xfrm>
            <a:off x="10469880" y="29260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возраст: ~52 года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10469880" y="3611880"/>
            <a:ext cx="1600200" cy="566928"/>
          </a:xfrm>
          <a:prstGeom prst="roundRect">
            <a:avLst>
              <a:gd name="adj" fmla="val 8065"/>
            </a:avLst>
          </a:prstGeom>
          <a:solidFill>
            <a:srgbClr val="253A5E"/>
          </a:solidFill>
          <a:ln/>
        </p:spPr>
      </p:sp>
      <p:sp>
        <p:nvSpPr>
          <p:cNvPr id="56" name="Text 53"/>
          <p:cNvSpPr/>
          <p:nvPr/>
        </p:nvSpPr>
        <p:spPr>
          <a:xfrm>
            <a:off x="10469880" y="36118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 баланс: ~120k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10469880" y="4297680"/>
            <a:ext cx="1600200" cy="566928"/>
          </a:xfrm>
          <a:prstGeom prst="roundRect">
            <a:avLst>
              <a:gd name="adj" fmla="val 8065"/>
            </a:avLst>
          </a:prstGeom>
          <a:solidFill>
            <a:srgbClr val="253A5E"/>
          </a:solidFill>
          <a:ln/>
        </p:spPr>
      </p:sp>
      <p:sp>
        <p:nvSpPr>
          <p:cNvPr id="58" name="Text 55"/>
          <p:cNvSpPr/>
          <p:nvPr/>
        </p:nvSpPr>
        <p:spPr>
          <a:xfrm>
            <a:off x="10469880" y="42976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продукта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10469880" y="4983480"/>
            <a:ext cx="1600200" cy="566928"/>
          </a:xfrm>
          <a:prstGeom prst="roundRect">
            <a:avLst>
              <a:gd name="adj" fmla="val 8065"/>
            </a:avLst>
          </a:prstGeom>
          <a:solidFill>
            <a:srgbClr val="253A5E"/>
          </a:solidFill>
          <a:ln/>
        </p:spPr>
      </p:sp>
      <p:sp>
        <p:nvSpPr>
          <p:cNvPr id="60" name="Text 57"/>
          <p:cNvSpPr/>
          <p:nvPr/>
        </p:nvSpPr>
        <p:spPr>
          <a:xfrm>
            <a:off x="10469880" y="49834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Отток: критический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685800" cy="685800"/>
          </a:xfrm>
          <a:prstGeom prst="ellipse">
            <a:avLst/>
          </a:prstGeom>
          <a:solidFill>
            <a:srgbClr val="7B2D8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674370"/>
            <a:ext cx="3429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53035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 гипотез (t-test)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63040" y="107899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значимости α = 0.05 · Все три гипотезы подтверждены (p &lt; 0.0001)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94360" y="1600200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253A5E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783080"/>
            <a:ext cx="594360" cy="594360"/>
          </a:xfrm>
          <a:prstGeom prst="ellipse">
            <a:avLst/>
          </a:prstGeom>
          <a:solidFill>
            <a:srgbClr val="7B2D8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929384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1828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22960" y="25146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Клиенты из Германии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уходят значимо чаще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из Франции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2960" y="3520440"/>
            <a:ext cx="3200400" cy="713232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/>
        </p:spPr>
      </p:sp>
      <p:sp>
        <p:nvSpPr>
          <p:cNvPr id="12" name="Text 8"/>
          <p:cNvSpPr/>
          <p:nvPr/>
        </p:nvSpPr>
        <p:spPr>
          <a:xfrm>
            <a:off x="100584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Германия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880360" y="35478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32.4%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822960" y="4343400"/>
            <a:ext cx="3200400" cy="713232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/>
        </p:spPr>
      </p:sp>
      <p:sp>
        <p:nvSpPr>
          <p:cNvPr id="15" name="Text 11"/>
          <p:cNvSpPr/>
          <p:nvPr/>
        </p:nvSpPr>
        <p:spPr>
          <a:xfrm>
            <a:off x="100584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Франция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880360" y="43708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D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16.2%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822960" y="52120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0.0001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22960" y="5559552"/>
            <a:ext cx="3200400" cy="411480"/>
          </a:xfrm>
          <a:prstGeom prst="roundRect">
            <a:avLst>
              <a:gd name="adj" fmla="val 48889"/>
            </a:avLst>
          </a:prstGeom>
          <a:solidFill>
            <a:srgbClr val="1A7A4A"/>
          </a:solidFill>
          <a:ln/>
        </p:spPr>
      </p:sp>
      <p:sp>
        <p:nvSpPr>
          <p:cNvPr id="19" name="Text 15"/>
          <p:cNvSpPr/>
          <p:nvPr/>
        </p:nvSpPr>
        <p:spPr>
          <a:xfrm>
            <a:off x="822960" y="55595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ПОДТВЕРЖДЕНА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22960" y="6035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Германия — рынок с системной проблемой оттока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343400" y="1600200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253A5E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572000" y="1783080"/>
            <a:ext cx="594360" cy="5943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1929384"/>
            <a:ext cx="301752" cy="30175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303520" y="1828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4572000" y="25146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Неактивные клиенты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уходят значимо чаще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активные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4572000" y="3520440"/>
            <a:ext cx="3200400" cy="713232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/>
        </p:spPr>
      </p:sp>
      <p:sp>
        <p:nvSpPr>
          <p:cNvPr id="27" name="Text 22"/>
          <p:cNvSpPr/>
          <p:nvPr/>
        </p:nvSpPr>
        <p:spPr>
          <a:xfrm>
            <a:off x="475488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Неактивные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629400" y="35478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26.9%</a:t>
            </a:r>
            <a:endParaRPr lang="en-US" sz="2400" dirty="0"/>
          </a:p>
        </p:txBody>
      </p:sp>
      <p:sp>
        <p:nvSpPr>
          <p:cNvPr id="29" name="Shape 24"/>
          <p:cNvSpPr/>
          <p:nvPr/>
        </p:nvSpPr>
        <p:spPr>
          <a:xfrm>
            <a:off x="4572000" y="4343400"/>
            <a:ext cx="3200400" cy="713232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/>
        </p:spPr>
      </p:sp>
      <p:sp>
        <p:nvSpPr>
          <p:cNvPr id="30" name="Text 25"/>
          <p:cNvSpPr/>
          <p:nvPr/>
        </p:nvSpPr>
        <p:spPr>
          <a:xfrm>
            <a:off x="475488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Активные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6629400" y="43708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D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14.3%</a:t>
            </a:r>
            <a:endParaRPr lang="en-US" sz="2400" dirty="0"/>
          </a:p>
        </p:txBody>
      </p:sp>
      <p:sp>
        <p:nvSpPr>
          <p:cNvPr id="32" name="Text 27"/>
          <p:cNvSpPr/>
          <p:nvPr/>
        </p:nvSpPr>
        <p:spPr>
          <a:xfrm>
            <a:off x="4572000" y="52120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0.0001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4572000" y="5559552"/>
            <a:ext cx="3200400" cy="411480"/>
          </a:xfrm>
          <a:prstGeom prst="roundRect">
            <a:avLst>
              <a:gd name="adj" fmla="val 48889"/>
            </a:avLst>
          </a:prstGeom>
          <a:solidFill>
            <a:srgbClr val="1A7A4A"/>
          </a:solidFill>
          <a:ln/>
        </p:spPr>
      </p:sp>
      <p:sp>
        <p:nvSpPr>
          <p:cNvPr id="34" name="Text 29"/>
          <p:cNvSpPr/>
          <p:nvPr/>
        </p:nvSpPr>
        <p:spPr>
          <a:xfrm>
            <a:off x="4572000" y="55595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ПОДТВЕРЖДЕНА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4572000" y="6035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Активность — важный защитный фактор от оттока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8092440" y="1600200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253A5E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8321040" y="1783080"/>
            <a:ext cx="594360" cy="594360"/>
          </a:xfrm>
          <a:prstGeom prst="ellipse">
            <a:avLst/>
          </a:prstGeom>
          <a:solidFill>
            <a:srgbClr val="B7410E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344" y="1929384"/>
            <a:ext cx="301752" cy="30175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9052560" y="1828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</a:t>
            </a:r>
            <a:endParaRPr lang="en-US" sz="2200" dirty="0"/>
          </a:p>
        </p:txBody>
      </p:sp>
      <p:sp>
        <p:nvSpPr>
          <p:cNvPr id="40" name="Text 34"/>
          <p:cNvSpPr/>
          <p:nvPr/>
        </p:nvSpPr>
        <p:spPr>
          <a:xfrm>
            <a:off x="8321040" y="25146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Клиенты старше 45 лет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уходят значимо чаще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молодых</a:t>
            </a:r>
            <a:endParaRPr lang="en-US" sz="1300" dirty="0"/>
          </a:p>
        </p:txBody>
      </p:sp>
      <p:sp>
        <p:nvSpPr>
          <p:cNvPr id="41" name="Shape 35"/>
          <p:cNvSpPr/>
          <p:nvPr/>
        </p:nvSpPr>
        <p:spPr>
          <a:xfrm>
            <a:off x="8321040" y="3520440"/>
            <a:ext cx="3200400" cy="713232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/>
        </p:spPr>
      </p:sp>
      <p:sp>
        <p:nvSpPr>
          <p:cNvPr id="42" name="Text 36"/>
          <p:cNvSpPr/>
          <p:nvPr/>
        </p:nvSpPr>
        <p:spPr>
          <a:xfrm>
            <a:off x="850392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 &gt; 45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10378440" y="35478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45.3%</a:t>
            </a:r>
            <a:endParaRPr lang="en-US" sz="2400" dirty="0"/>
          </a:p>
        </p:txBody>
      </p:sp>
      <p:sp>
        <p:nvSpPr>
          <p:cNvPr id="44" name="Shape 38"/>
          <p:cNvSpPr/>
          <p:nvPr/>
        </p:nvSpPr>
        <p:spPr>
          <a:xfrm>
            <a:off x="8321040" y="4343400"/>
            <a:ext cx="3200400" cy="713232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/>
        </p:spPr>
      </p:sp>
      <p:sp>
        <p:nvSpPr>
          <p:cNvPr id="45" name="Text 39"/>
          <p:cNvSpPr/>
          <p:nvPr/>
        </p:nvSpPr>
        <p:spPr>
          <a:xfrm>
            <a:off x="850392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 ≤ 45</a:t>
            </a:r>
            <a:endParaRPr lang="en-US" sz="1200" dirty="0"/>
          </a:p>
        </p:txBody>
      </p:sp>
      <p:sp>
        <p:nvSpPr>
          <p:cNvPr id="46" name="Text 40"/>
          <p:cNvSpPr/>
          <p:nvPr/>
        </p:nvSpPr>
        <p:spPr>
          <a:xfrm>
            <a:off x="10378440" y="43708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D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13.7%</a:t>
            </a:r>
            <a:endParaRPr lang="en-US" sz="2400" dirty="0"/>
          </a:p>
        </p:txBody>
      </p:sp>
      <p:sp>
        <p:nvSpPr>
          <p:cNvPr id="47" name="Text 41"/>
          <p:cNvSpPr/>
          <p:nvPr/>
        </p:nvSpPr>
        <p:spPr>
          <a:xfrm>
            <a:off x="8321040" y="52120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0.0001</a:t>
            </a:r>
            <a:endParaRPr lang="en-US" sz="1200" dirty="0"/>
          </a:p>
        </p:txBody>
      </p:sp>
      <p:sp>
        <p:nvSpPr>
          <p:cNvPr id="48" name="Shape 42"/>
          <p:cNvSpPr/>
          <p:nvPr/>
        </p:nvSpPr>
        <p:spPr>
          <a:xfrm>
            <a:off x="8321040" y="5559552"/>
            <a:ext cx="3200400" cy="411480"/>
          </a:xfrm>
          <a:prstGeom prst="roundRect">
            <a:avLst>
              <a:gd name="adj" fmla="val 48889"/>
            </a:avLst>
          </a:prstGeom>
          <a:solidFill>
            <a:srgbClr val="1A7A4A"/>
          </a:solidFill>
          <a:ln/>
        </p:spPr>
      </p:sp>
      <p:sp>
        <p:nvSpPr>
          <p:cNvPr id="49" name="Text 43"/>
          <p:cNvSpPr/>
          <p:nvPr/>
        </p:nvSpPr>
        <p:spPr>
          <a:xfrm>
            <a:off x="8321040" y="55595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ПОДТВЕРЖДЕНА</a:t>
            </a:r>
            <a:endParaRPr lang="en-US" sz="1200" dirty="0"/>
          </a:p>
        </p:txBody>
      </p:sp>
      <p:sp>
        <p:nvSpPr>
          <p:cNvPr id="50" name="Text 44"/>
          <p:cNvSpPr/>
          <p:nvPr/>
        </p:nvSpPr>
        <p:spPr>
          <a:xfrm>
            <a:off x="8321040" y="6035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Зрелый возраст — главный демографический фактор риска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674370"/>
            <a:ext cx="3429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53035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Модели прогнозирования оттока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63040" y="107899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модели машинного обучения — сравниваем точность по AUC-ROC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94360" y="16002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EDF2F7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828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67919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C27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0.774</a:t>
            </a:r>
            <a:endParaRPr lang="en-US" sz="4000" dirty="0"/>
          </a:p>
        </p:txBody>
      </p:sp>
      <p:sp>
        <p:nvSpPr>
          <p:cNvPr id="10" name="Shape 7"/>
          <p:cNvSpPr/>
          <p:nvPr/>
        </p:nvSpPr>
        <p:spPr>
          <a:xfrm>
            <a:off x="777240" y="3794760"/>
            <a:ext cx="3200400" cy="411480"/>
          </a:xfrm>
          <a:prstGeom prst="roundRect">
            <a:avLst>
              <a:gd name="adj" fmla="val 13333"/>
            </a:avLst>
          </a:prstGeom>
          <a:solidFill>
            <a:srgbClr val="E8EDF3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840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(ушедшие)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971800" y="3840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7240" y="4297680"/>
            <a:ext cx="3200400" cy="411480"/>
          </a:xfrm>
          <a:prstGeom prst="roundRect">
            <a:avLst>
              <a:gd name="adj" fmla="val 13333"/>
            </a:avLst>
          </a:prstGeom>
          <a:solidFill>
            <a:srgbClr val="E8EDF3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4343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(ушедшие)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971800" y="4343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7240" y="4892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Простая базовая модель.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Интерпретируемая, но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менее точная.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251960" y="16002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EDF2F7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434840" y="1828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434840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434840" y="267919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88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0.848</a:t>
            </a:r>
            <a:endParaRPr lang="en-US" sz="4000" dirty="0"/>
          </a:p>
        </p:txBody>
      </p:sp>
      <p:sp>
        <p:nvSpPr>
          <p:cNvPr id="21" name="Shape 18"/>
          <p:cNvSpPr/>
          <p:nvPr/>
        </p:nvSpPr>
        <p:spPr>
          <a:xfrm>
            <a:off x="4434840" y="3794760"/>
            <a:ext cx="3200400" cy="411480"/>
          </a:xfrm>
          <a:prstGeom prst="roundRect">
            <a:avLst>
              <a:gd name="adj" fmla="val 13333"/>
            </a:avLst>
          </a:prstGeom>
          <a:solidFill>
            <a:srgbClr val="E8EDF3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0" y="3840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(ушедшие)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629400" y="3840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434840" y="4297680"/>
            <a:ext cx="3200400" cy="411480"/>
          </a:xfrm>
          <a:prstGeom prst="roundRect">
            <a:avLst>
              <a:gd name="adj" fmla="val 13333"/>
            </a:avLst>
          </a:prstGeom>
          <a:solidFill>
            <a:srgbClr val="E8EDF3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0" y="4343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(ушедшие)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629400" y="4343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434840" y="4892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Ансамбль из 100 деревьев.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 к выбросам,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хорошая точность.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909560" y="16002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8092440" y="1737360"/>
            <a:ext cx="2560320" cy="347472"/>
          </a:xfrm>
          <a:prstGeom prst="roundRect">
            <a:avLst>
              <a:gd name="adj" fmla="val 15789"/>
            </a:avLst>
          </a:prstGeom>
          <a:solidFill>
            <a:srgbClr val="C0392B"/>
          </a:solidFill>
          <a:ln/>
        </p:spPr>
      </p:sp>
      <p:sp>
        <p:nvSpPr>
          <p:cNvPr id="30" name="Text 27"/>
          <p:cNvSpPr/>
          <p:nvPr/>
        </p:nvSpPr>
        <p:spPr>
          <a:xfrm>
            <a:off x="8092440" y="1737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ЛУЧШАЯ МОДЕЛЬ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092440" y="21762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8092440" y="2697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092440" y="299923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0.867</a:t>
            </a:r>
            <a:endParaRPr lang="en-US" sz="4000" dirty="0"/>
          </a:p>
        </p:txBody>
      </p:sp>
      <p:sp>
        <p:nvSpPr>
          <p:cNvPr id="34" name="Shape 31"/>
          <p:cNvSpPr/>
          <p:nvPr/>
        </p:nvSpPr>
        <p:spPr>
          <a:xfrm>
            <a:off x="8092440" y="3794760"/>
            <a:ext cx="3200400" cy="411480"/>
          </a:xfrm>
          <a:prstGeom prst="roundRect">
            <a:avLst>
              <a:gd name="adj" fmla="val 13333"/>
            </a:avLst>
          </a:prstGeom>
          <a:solidFill>
            <a:srgbClr val="253A5E"/>
          </a:solidFill>
          <a:ln/>
        </p:spPr>
      </p:sp>
      <p:sp>
        <p:nvSpPr>
          <p:cNvPr id="35" name="Text 32"/>
          <p:cNvSpPr/>
          <p:nvPr/>
        </p:nvSpPr>
        <p:spPr>
          <a:xfrm>
            <a:off x="8229600" y="3840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(ушедшие)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0287000" y="3840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8092440" y="4297680"/>
            <a:ext cx="3200400" cy="411480"/>
          </a:xfrm>
          <a:prstGeom prst="roundRect">
            <a:avLst>
              <a:gd name="adj" fmla="val 13333"/>
            </a:avLst>
          </a:prstGeom>
          <a:solidFill>
            <a:srgbClr val="253A5E"/>
          </a:solidFill>
          <a:ln/>
        </p:spPr>
      </p:sp>
      <p:sp>
        <p:nvSpPr>
          <p:cNvPr id="38" name="Text 35"/>
          <p:cNvSpPr/>
          <p:nvPr/>
        </p:nvSpPr>
        <p:spPr>
          <a:xfrm>
            <a:off x="8229600" y="4343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(ушедшие)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10287000" y="4343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8092440" y="4892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Лучший результат.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Последовательное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на ошибках.</a:t>
            </a:r>
            <a:endParaRPr lang="en-US" sz="1100" dirty="0"/>
          </a:p>
        </p:txBody>
      </p:sp>
      <p:graphicFrame>
        <p:nvGraphicFramePr>
          <p:cNvPr id="41" name="Chart 0" descr=""/>
          <p:cNvGraphicFramePr/>
          <p:nvPr/>
        </p:nvGraphicFramePr>
        <p:xfrm>
          <a:off x="457200" y="5257800"/>
          <a:ext cx="1124712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674370"/>
            <a:ext cx="3429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53035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SQL-анализ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63040" y="107899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аналитических запросов к таблице result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94360" y="160020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EDF2F7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75564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B2A4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755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25880" y="16916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Churn Rate — доля ушедших клиентов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325880" y="2084832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DDE8F5"/>
          </a:solidFill>
          <a:ln/>
        </p:spPr>
      </p:sp>
      <p:sp>
        <p:nvSpPr>
          <p:cNvPr id="11" name="Text 8"/>
          <p:cNvSpPr/>
          <p:nvPr/>
        </p:nvSpPr>
        <p:spPr>
          <a:xfrm>
            <a:off x="1325880" y="2084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+ OVER()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56032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1520" y="271576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B2A4A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2715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325880" y="26517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Отток по странам — рейтинг по churn_rate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1325880" y="3044952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DDE8F5"/>
          </a:solidFill>
          <a:ln/>
        </p:spPr>
      </p:sp>
      <p:sp>
        <p:nvSpPr>
          <p:cNvPr id="17" name="Text 14"/>
          <p:cNvSpPr/>
          <p:nvPr/>
        </p:nvSpPr>
        <p:spPr>
          <a:xfrm>
            <a:off x="1325880" y="3044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+ ORDER BY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4360" y="352044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EDF2F7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31520" y="367588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B2A4A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675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325880" y="36118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Отток по полу и стране одновременно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325880" y="4005072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DDE8F5"/>
          </a:solidFill>
          <a:ln/>
        </p:spPr>
      </p:sp>
      <p:sp>
        <p:nvSpPr>
          <p:cNvPr id="23" name="Text 20"/>
          <p:cNvSpPr/>
          <p:nvPr/>
        </p:nvSpPr>
        <p:spPr>
          <a:xfrm>
            <a:off x="1325880" y="4005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Двойной GROUP BY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94360" y="448056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31520" y="463600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B2A4A"/>
          </a:solidFill>
          <a:ln/>
        </p:spPr>
      </p:sp>
      <p:sp>
        <p:nvSpPr>
          <p:cNvPr id="26" name="Text 23"/>
          <p:cNvSpPr/>
          <p:nvPr/>
        </p:nvSpPr>
        <p:spPr>
          <a:xfrm>
            <a:off x="731520" y="4636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В4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325880" y="45720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Влияние количества продуктов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1325880" y="4965192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DDE8F5"/>
          </a:solidFill>
          <a:ln/>
        </p:spPr>
      </p:sp>
      <p:sp>
        <p:nvSpPr>
          <p:cNvPr id="29" name="Text 26"/>
          <p:cNvSpPr/>
          <p:nvPr/>
        </p:nvSpPr>
        <p:spPr>
          <a:xfrm>
            <a:off x="1325880" y="4965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num_products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94360" y="544068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EDF2F7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31520" y="559612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B2A4A"/>
          </a:solidFill>
          <a:ln/>
        </p:spPr>
      </p:sp>
      <p:sp>
        <p:nvSpPr>
          <p:cNvPr id="32" name="Text 29"/>
          <p:cNvSpPr/>
          <p:nvPr/>
        </p:nvSpPr>
        <p:spPr>
          <a:xfrm>
            <a:off x="731520" y="5596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В5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325880" y="55321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Активные vs неактивные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1325880" y="5925312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DDE8F5"/>
          </a:solidFill>
          <a:ln/>
        </p:spPr>
      </p:sp>
      <p:sp>
        <p:nvSpPr>
          <p:cNvPr id="35" name="Text 32"/>
          <p:cNvSpPr/>
          <p:nvPr/>
        </p:nvSpPr>
        <p:spPr>
          <a:xfrm>
            <a:off x="1325880" y="59253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 + агрегация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263640" y="160020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400800" y="175564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B2A4A"/>
          </a:solidFill>
          <a:ln/>
        </p:spPr>
      </p:sp>
      <p:sp>
        <p:nvSpPr>
          <p:cNvPr id="38" name="Text 35"/>
          <p:cNvSpPr/>
          <p:nvPr/>
        </p:nvSpPr>
        <p:spPr>
          <a:xfrm>
            <a:off x="6400800" y="1755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В6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6995160" y="16916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Отток по возрастным группам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6995160" y="2084832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DDE8F5"/>
          </a:solidFill>
          <a:ln/>
        </p:spPr>
      </p:sp>
      <p:sp>
        <p:nvSpPr>
          <p:cNvPr id="41" name="Text 38"/>
          <p:cNvSpPr/>
          <p:nvPr/>
        </p:nvSpPr>
        <p:spPr>
          <a:xfrm>
            <a:off x="6995160" y="2084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 с диапазонами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263640" y="256032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EDF2F7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6400800" y="271576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B2A4A"/>
          </a:solidFill>
          <a:ln/>
        </p:spPr>
      </p:sp>
      <p:sp>
        <p:nvSpPr>
          <p:cNvPr id="44" name="Text 41"/>
          <p:cNvSpPr/>
          <p:nvPr/>
        </p:nvSpPr>
        <p:spPr>
          <a:xfrm>
            <a:off x="6400800" y="2715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В7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6995160" y="26517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Разбивка по балансу счёта</a:t>
            </a:r>
            <a:endParaRPr lang="en-US" sz="1250" dirty="0"/>
          </a:p>
        </p:txBody>
      </p:sp>
      <p:sp>
        <p:nvSpPr>
          <p:cNvPr id="46" name="Shape 43"/>
          <p:cNvSpPr/>
          <p:nvPr/>
        </p:nvSpPr>
        <p:spPr>
          <a:xfrm>
            <a:off x="6995160" y="3044952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DDE8F5"/>
          </a:solidFill>
          <a:ln/>
        </p:spPr>
      </p:sp>
      <p:sp>
        <p:nvSpPr>
          <p:cNvPr id="47" name="Text 44"/>
          <p:cNvSpPr/>
          <p:nvPr/>
        </p:nvSpPr>
        <p:spPr>
          <a:xfrm>
            <a:off x="6995160" y="3044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групп через CASE WHEN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6263640" y="352044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6400800" y="367588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B2A4A"/>
          </a:solidFill>
          <a:ln/>
        </p:spPr>
      </p:sp>
      <p:sp>
        <p:nvSpPr>
          <p:cNvPr id="50" name="Text 47"/>
          <p:cNvSpPr/>
          <p:nvPr/>
        </p:nvSpPr>
        <p:spPr>
          <a:xfrm>
            <a:off x="6400800" y="3675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В8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6995160" y="36118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Топ-5 ушедших с высоким балансом</a:t>
            </a:r>
            <a:endParaRPr lang="en-US" sz="1250" dirty="0"/>
          </a:p>
        </p:txBody>
      </p:sp>
      <p:sp>
        <p:nvSpPr>
          <p:cNvPr id="52" name="Shape 49"/>
          <p:cNvSpPr/>
          <p:nvPr/>
        </p:nvSpPr>
        <p:spPr>
          <a:xfrm>
            <a:off x="6995160" y="4005072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DDE8F5"/>
          </a:solidFill>
          <a:ln/>
        </p:spPr>
      </p:sp>
      <p:sp>
        <p:nvSpPr>
          <p:cNvPr id="53" name="Text 50"/>
          <p:cNvSpPr/>
          <p:nvPr/>
        </p:nvSpPr>
        <p:spPr>
          <a:xfrm>
            <a:off x="6995160" y="4005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+ LIMIT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6263640" y="448056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EDF2F7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6400800" y="463600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B2A4A"/>
          </a:solidFill>
          <a:ln/>
        </p:spPr>
      </p:sp>
      <p:sp>
        <p:nvSpPr>
          <p:cNvPr id="56" name="Text 53"/>
          <p:cNvSpPr/>
          <p:nvPr/>
        </p:nvSpPr>
        <p:spPr>
          <a:xfrm>
            <a:off x="6400800" y="4636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В9</a:t>
            </a:r>
            <a:endParaRPr lang="en-US" sz="1300" dirty="0"/>
          </a:p>
        </p:txBody>
      </p:sp>
      <p:sp>
        <p:nvSpPr>
          <p:cNvPr id="57" name="Text 54"/>
          <p:cNvSpPr/>
          <p:nvPr/>
        </p:nvSpPr>
        <p:spPr>
          <a:xfrm>
            <a:off x="6995160" y="45720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Клиенты с балансом выше среднего по стране</a:t>
            </a:r>
            <a:endParaRPr lang="en-US" sz="1250" dirty="0"/>
          </a:p>
        </p:txBody>
      </p:sp>
      <p:sp>
        <p:nvSpPr>
          <p:cNvPr id="58" name="Shape 55"/>
          <p:cNvSpPr/>
          <p:nvPr/>
        </p:nvSpPr>
        <p:spPr>
          <a:xfrm>
            <a:off x="6995160" y="4965192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DDE8F5"/>
          </a:solidFill>
          <a:ln/>
        </p:spPr>
      </p:sp>
      <p:sp>
        <p:nvSpPr>
          <p:cNvPr id="59" name="Text 56"/>
          <p:cNvSpPr/>
          <p:nvPr/>
        </p:nvSpPr>
        <p:spPr>
          <a:xfrm>
            <a:off x="6995160" y="4965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+ JOIN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6263640" y="544068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6400800" y="559612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B2A4A"/>
          </a:solidFill>
          <a:ln/>
        </p:spPr>
      </p:sp>
      <p:sp>
        <p:nvSpPr>
          <p:cNvPr id="62" name="Text 59"/>
          <p:cNvSpPr/>
          <p:nvPr/>
        </p:nvSpPr>
        <p:spPr>
          <a:xfrm>
            <a:off x="6400800" y="5596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В10</a:t>
            </a:r>
            <a:endParaRPr lang="en-US" sz="1300" dirty="0"/>
          </a:p>
        </p:txBody>
      </p:sp>
      <p:sp>
        <p:nvSpPr>
          <p:cNvPr id="63" name="Text 60"/>
          <p:cNvSpPr/>
          <p:nvPr/>
        </p:nvSpPr>
        <p:spPr>
          <a:xfrm>
            <a:off x="6995160" y="55321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Ранжирование клиентов по балансу</a:t>
            </a:r>
            <a:endParaRPr lang="en-US" sz="1250" dirty="0"/>
          </a:p>
        </p:txBody>
      </p:sp>
      <p:sp>
        <p:nvSpPr>
          <p:cNvPr id="64" name="Shape 61"/>
          <p:cNvSpPr/>
          <p:nvPr/>
        </p:nvSpPr>
        <p:spPr>
          <a:xfrm>
            <a:off x="6995160" y="5925312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DDE8F5"/>
          </a:solidFill>
          <a:ln/>
        </p:spPr>
      </p:sp>
      <p:sp>
        <p:nvSpPr>
          <p:cNvPr id="65" name="Text 62"/>
          <p:cNvSpPr/>
          <p:nvPr/>
        </p:nvSpPr>
        <p:spPr>
          <a:xfrm>
            <a:off x="6995160" y="59253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NTILE + RANK + AVG OVER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685800" cy="685800"/>
          </a:xfrm>
          <a:prstGeom prst="ellipse">
            <a:avLst/>
          </a:prstGeom>
          <a:solidFill>
            <a:srgbClr val="7B2D8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674370"/>
            <a:ext cx="3429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53035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Интерактивный дашборд Power BI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63040" y="107899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выводы — в живом отчёте с фильтрами по стране, полу и активности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94360" y="1600200"/>
            <a:ext cx="8229600" cy="5029200"/>
          </a:xfrm>
          <a:prstGeom prst="roundRect">
            <a:avLst>
              <a:gd name="adj" fmla="val 1455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78308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253A5E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8745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10 000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23134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Клиентов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97480" y="178308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253A5E"/>
          </a:solidFill>
          <a:ln/>
        </p:spPr>
      </p:sp>
      <p:sp>
        <p:nvSpPr>
          <p:cNvPr id="11" name="Text 8"/>
          <p:cNvSpPr/>
          <p:nvPr/>
        </p:nvSpPr>
        <p:spPr>
          <a:xfrm>
            <a:off x="2788920" y="18745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2 037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788920" y="23134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Ушедших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0" y="178308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253A5E"/>
          </a:solidFill>
          <a:ln/>
        </p:spPr>
      </p:sp>
      <p:sp>
        <p:nvSpPr>
          <p:cNvPr id="14" name="Text 11"/>
          <p:cNvSpPr/>
          <p:nvPr/>
        </p:nvSpPr>
        <p:spPr>
          <a:xfrm>
            <a:off x="4663440" y="18745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20.4%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663440" y="23134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46520" y="178308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253A5E"/>
          </a:solidFill>
          <a:ln/>
        </p:spPr>
      </p:sp>
      <p:sp>
        <p:nvSpPr>
          <p:cNvPr id="17" name="Text 14"/>
          <p:cNvSpPr/>
          <p:nvPr/>
        </p:nvSpPr>
        <p:spPr>
          <a:xfrm>
            <a:off x="6537960" y="18745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$76 486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537960" y="23134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Ср. баланс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22960" y="2880360"/>
            <a:ext cx="3566160" cy="3520440"/>
          </a:xfrm>
          <a:prstGeom prst="roundRect">
            <a:avLst>
              <a:gd name="adj" fmla="val 1558"/>
            </a:avLst>
          </a:prstGeom>
          <a:solidFill>
            <a:srgbClr val="253A5E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" y="29992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Country</a:t>
            </a:r>
            <a:endParaRPr lang="en-US" sz="11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914400" y="3337560"/>
          <a:ext cx="32918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Shape 18"/>
          <p:cNvSpPr/>
          <p:nvPr/>
        </p:nvSpPr>
        <p:spPr>
          <a:xfrm>
            <a:off x="4617720" y="2880360"/>
            <a:ext cx="3977640" cy="3520440"/>
          </a:xfrm>
          <a:prstGeom prst="roundRect">
            <a:avLst>
              <a:gd name="adj" fmla="val 1558"/>
            </a:avLst>
          </a:prstGeom>
          <a:solidFill>
            <a:srgbClr val="253A5E"/>
          </a:solidFill>
          <a:ln/>
        </p:spPr>
      </p:sp>
      <p:sp>
        <p:nvSpPr>
          <p:cNvPr id="23" name="Text 19"/>
          <p:cNvSpPr/>
          <p:nvPr/>
        </p:nvSpPr>
        <p:spPr>
          <a:xfrm>
            <a:off x="4709160" y="299923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Age Group</a:t>
            </a:r>
            <a:endParaRPr lang="en-US" sz="1100" dirty="0"/>
          </a:p>
        </p:txBody>
      </p:sp>
      <p:graphicFrame>
        <p:nvGraphicFramePr>
          <p:cNvPr id="24" name="Chart 1" descr=""/>
          <p:cNvGraphicFramePr/>
          <p:nvPr/>
        </p:nvGraphicFramePr>
        <p:xfrm>
          <a:off x="4709160" y="3337560"/>
          <a:ext cx="37033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Shape 20"/>
          <p:cNvSpPr/>
          <p:nvPr/>
        </p:nvSpPr>
        <p:spPr>
          <a:xfrm>
            <a:off x="9052560" y="1600200"/>
            <a:ext cx="2788920" cy="5029200"/>
          </a:xfrm>
          <a:prstGeom prst="roundRect">
            <a:avLst>
              <a:gd name="adj" fmla="val 2623"/>
            </a:avLst>
          </a:prstGeom>
          <a:solidFill>
            <a:srgbClr val="253A5E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9235440" y="1783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страницы: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9235440" y="2240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Стр. 1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9235440" y="25786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обзор: KPI, страны,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возраст, пол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9235440" y="34290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Стр. 2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9235440" y="37673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Глубокий анализ: баланс,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активность, топ клиентов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9235440" y="46634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Срезы (фильтры):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9235440" y="5074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Geography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9235440" y="54041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Gender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9235440" y="5733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Num Products</a:t>
            </a:r>
            <a:endParaRPr lang="en-US" sz="1150" dirty="0"/>
          </a:p>
        </p:txBody>
      </p:sp>
      <p:sp>
        <p:nvSpPr>
          <p:cNvPr id="35" name="Text 30"/>
          <p:cNvSpPr/>
          <p:nvPr/>
        </p:nvSpPr>
        <p:spPr>
          <a:xfrm>
            <a:off x="9235440" y="60624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Is Active</a:t>
            </a:r>
            <a:endParaRPr lang="en-US" sz="1150" dirty="0"/>
          </a:p>
        </p:txBody>
      </p:sp>
      <p:sp>
        <p:nvSpPr>
          <p:cNvPr id="36" name="Text 31"/>
          <p:cNvSpPr/>
          <p:nvPr/>
        </p:nvSpPr>
        <p:spPr>
          <a:xfrm>
            <a:off x="9235440" y="63916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🎂 Age Group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674370"/>
            <a:ext cx="3429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53035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Ключевые выводы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63040" y="107899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подтвердил анализ данных — по каждому этапу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94360" y="1600200"/>
            <a:ext cx="2715768" cy="5029200"/>
          </a:xfrm>
          <a:prstGeom prst="roundRect">
            <a:avLst>
              <a:gd name="adj" fmla="val 2694"/>
            </a:avLst>
          </a:prstGeom>
          <a:solidFill>
            <a:srgbClr val="EDF2F7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737360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801368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52728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777240" y="2359152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914400" y="239572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Германия: Churn Rate 32% — вдвое выше Франции и Испании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77240" y="3273552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914400" y="331012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Клиенты 45–59 лет: 49% — каждый второй уходит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77240" y="4187952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914400" y="422452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Женщины уходят на 8.6 п.п. чаще мужчин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429000" y="1600200"/>
            <a:ext cx="2715768" cy="5029200"/>
          </a:xfrm>
          <a:prstGeom prst="roundRect">
            <a:avLst>
              <a:gd name="adj" fmla="val 2694"/>
            </a:avLst>
          </a:prstGeom>
          <a:solidFill>
            <a:srgbClr val="EDF2F7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11880" y="1737360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608" y="180136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087368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Продукты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3611880" y="2359152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3749040" y="239572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продукта = уходят почти все (83–100%)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3611880" y="3273552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3749040" y="331012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продукта = самый лояльный сегмент (7.6%)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3611880" y="4187952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3749040" y="422452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Неактивные уходят вдвое чаще активных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263640" y="1600200"/>
            <a:ext cx="2715768" cy="5029200"/>
          </a:xfrm>
          <a:prstGeom prst="roundRect">
            <a:avLst>
              <a:gd name="adj" fmla="val 2694"/>
            </a:avLst>
          </a:prstGeom>
          <a:solidFill>
            <a:srgbClr val="EDF2F7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446520" y="1737360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1801368"/>
            <a:ext cx="292608" cy="29260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22008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Гипотезы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6446520" y="2359152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6583680" y="239572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подтверждена: Германия vs Франция (p&lt;0.0001)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6446520" y="3273552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6583680" y="331012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подтверждена: неактивные vs активные (p&lt;0.0001)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6446520" y="4187952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35" name="Text 29"/>
          <p:cNvSpPr/>
          <p:nvPr/>
        </p:nvSpPr>
        <p:spPr>
          <a:xfrm>
            <a:off x="6583680" y="422452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подтверждена: 45+ vs молодые (p&lt;0.0001)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9098280" y="1600200"/>
            <a:ext cx="2715768" cy="5029200"/>
          </a:xfrm>
          <a:prstGeom prst="roundRect">
            <a:avLst>
              <a:gd name="adj" fmla="val 2694"/>
            </a:avLst>
          </a:prstGeom>
          <a:solidFill>
            <a:srgbClr val="EDF2F7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9281160" y="1737360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7B2D8B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0888" y="1801368"/>
            <a:ext cx="292608" cy="29260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9756648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endParaRPr lang="en-US" sz="1600" dirty="0"/>
          </a:p>
        </p:txBody>
      </p:sp>
      <p:sp>
        <p:nvSpPr>
          <p:cNvPr id="40" name="Shape 33"/>
          <p:cNvSpPr/>
          <p:nvPr/>
        </p:nvSpPr>
        <p:spPr>
          <a:xfrm>
            <a:off x="9281160" y="2359152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41" name="Text 34"/>
          <p:cNvSpPr/>
          <p:nvPr/>
        </p:nvSpPr>
        <p:spPr>
          <a:xfrm>
            <a:off x="9418320" y="239572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Лучшая модель: Gradient Boosting, AUC = 0.867</a:t>
            </a:r>
            <a:endParaRPr lang="en-US" sz="1150" dirty="0"/>
          </a:p>
        </p:txBody>
      </p:sp>
      <p:sp>
        <p:nvSpPr>
          <p:cNvPr id="42" name="Shape 35"/>
          <p:cNvSpPr/>
          <p:nvPr/>
        </p:nvSpPr>
        <p:spPr>
          <a:xfrm>
            <a:off x="9281160" y="3273552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43" name="Text 36"/>
          <p:cNvSpPr/>
          <p:nvPr/>
        </p:nvSpPr>
        <p:spPr>
          <a:xfrm>
            <a:off x="9418320" y="331012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предиктор: Age (важность 25.3%)</a:t>
            </a:r>
            <a:endParaRPr lang="en-US" sz="1150" dirty="0"/>
          </a:p>
        </p:txBody>
      </p:sp>
      <p:sp>
        <p:nvSpPr>
          <p:cNvPr id="44" name="Shape 37"/>
          <p:cNvSpPr/>
          <p:nvPr/>
        </p:nvSpPr>
        <p:spPr>
          <a:xfrm>
            <a:off x="9281160" y="4187952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9000"/>
              </a:srgbClr>
            </a:outerShdw>
          </a:effectLst>
        </p:spPr>
      </p:sp>
      <p:sp>
        <p:nvSpPr>
          <p:cNvPr id="45" name="Text 38"/>
          <p:cNvSpPr/>
          <p:nvPr/>
        </p:nvSpPr>
        <p:spPr>
          <a:xfrm>
            <a:off x="9418320" y="422452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подтвердила устойчивость модели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943600" cy="5943600"/>
          </a:xfrm>
          <a:prstGeom prst="ellipse">
            <a:avLst/>
          </a:prstGeom>
          <a:solidFill>
            <a:srgbClr val="7B2D8B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5029200"/>
            <a:ext cx="4572000" cy="4572000"/>
          </a:xfrm>
          <a:prstGeom prst="ellipse">
            <a:avLst/>
          </a:prstGeom>
          <a:solidFill>
            <a:srgbClr val="0D8A8A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502920"/>
            <a:ext cx="685800" cy="685800"/>
          </a:xfrm>
          <a:prstGeom prst="ellipse">
            <a:avLst/>
          </a:prstGeom>
          <a:solidFill>
            <a:srgbClr val="7B2D8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674370"/>
            <a:ext cx="342900" cy="342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53035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Рекомендации бизнесу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94360" y="160020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253A5E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6479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🇩🇪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371600" y="16916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Отдельная стратегия для Германии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371600" y="205740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Провести опрос ушедших клиентов, выявить специфические причины — Churn Rate 32% требует отдельного плана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4360" y="256032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253A5E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7249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👴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371600" y="26517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Retention-программа для клиентов 45+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371600" y="301752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Персональный менеджер, специальные условия, проактивные звонки — каждый второй клиент этой группы в зоне риска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94360" y="352044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253A5E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68503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371600" y="36118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Пересмотреть пакеты с 3+ продуктами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371600" y="39776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Разобраться, почему именно перегруженные пакеты приводят к оттоку — возможно, клиент не понимает ценности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94360" y="448056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253A5E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464515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371600" y="45720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Реактивация неактивных клиентов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371600" y="493776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и push-кампании, персональные офферы для клиентов без активности за последние 3 месяца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94360" y="544068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253A5E"/>
          </a:solidFill>
          <a:ln/>
        </p:spPr>
      </p:sp>
      <p:sp>
        <p:nvSpPr>
          <p:cNvPr id="24" name="Text 21"/>
          <p:cNvSpPr/>
          <p:nvPr/>
        </p:nvSpPr>
        <p:spPr>
          <a:xfrm>
            <a:off x="777240" y="560527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1371600" y="55321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Внедрить модель в прод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1371600" y="589788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Скорить всех клиентов ежемесячно, передавать в CRM список «клиентов риска» с вероятностью оттока &gt; 0.5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94360" y="64008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Customer Churn Analysis</dc:title>
  <dc:subject>PptxGenJS Presentation</dc:subject>
  <dc:creator>PptxGenJS</dc:creator>
  <cp:lastModifiedBy>PptxGenJS</cp:lastModifiedBy>
  <cp:revision>1</cp:revision>
  <dcterms:created xsi:type="dcterms:W3CDTF">2026-07-02T11:58:33Z</dcterms:created>
  <dcterms:modified xsi:type="dcterms:W3CDTF">2026-07-02T11:58:33Z</dcterms:modified>
</cp:coreProperties>
</file>